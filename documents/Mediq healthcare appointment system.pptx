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66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hyperlink" Target="https://stackoverflow.com/" TargetMode="External"/><Relationship Id="rId3" Type="http://schemas.openxmlformats.org/officeDocument/2006/relationships/hyperlink" Target="https://expressjs.com/" TargetMode="External"/><Relationship Id="rId7" Type="http://schemas.openxmlformats.org/officeDocument/2006/relationships/hyperlink" Target="https://www.geeksforgeeks.org/" TargetMode="External"/><Relationship Id="rId2" Type="http://schemas.openxmlformats.org/officeDocument/2006/relationships/hyperlink" Target="https://react.dev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" TargetMode="External"/><Relationship Id="rId5" Type="http://schemas.openxmlformats.org/officeDocument/2006/relationships/hyperlink" Target="https://www.mongodb.com/docs" TargetMode="External"/><Relationship Id="rId10" Type="http://schemas.openxmlformats.org/officeDocument/2006/relationships/hyperlink" Target="https://gemini.google.com/" TargetMode="External"/><Relationship Id="rId4" Type="http://schemas.openxmlformats.org/officeDocument/2006/relationships/hyperlink" Target="https://nodejs.org/" TargetMode="External"/><Relationship Id="rId9" Type="http://schemas.openxmlformats.org/officeDocument/2006/relationships/hyperlink" Target="https://chatgpt.com/" TargetMode="Externa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B6C9-9A44-8DB7-26D1-1057CF7107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Mediq</a:t>
            </a:r>
            <a:r>
              <a:rPr lang="en-US" dirty="0"/>
              <a:t> healthcare appointment system</a:t>
            </a:r>
            <a:endParaRPr lang="gu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D9E55-6697-7D62-91E9-E04E298BDE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VIVEK NAGARIYA                                                 IU2453000011</a:t>
            </a:r>
          </a:p>
          <a:p>
            <a:endParaRPr lang="en-US" dirty="0"/>
          </a:p>
          <a:p>
            <a:r>
              <a:rPr lang="en-US" dirty="0"/>
              <a:t>GUIDE : - KIRTAN RATHOD</a:t>
            </a:r>
            <a:endParaRPr lang="gu-IN" dirty="0"/>
          </a:p>
        </p:txBody>
      </p:sp>
    </p:spTree>
    <p:extLst>
      <p:ext uri="{BB962C8B-B14F-4D97-AF65-F5344CB8AC3E}">
        <p14:creationId xmlns:p14="http://schemas.microsoft.com/office/powerpoint/2010/main" val="3038691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96D59-2D43-AC36-F6E5-51C15C4C7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gu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2289DD-4704-C87F-F766-CC32F87D8E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4" y="1496815"/>
            <a:ext cx="1152401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gu-IN" altLang="gu-I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Healthcare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industry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needs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integrated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digital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systems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MEDIQ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is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a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full-stack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healthcare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appointment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system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It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connects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Patients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Doctors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Administrators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It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moves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traditional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hospital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workflow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into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a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digital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environment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It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is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developed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using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the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MERN </a:t>
            </a:r>
            <a:r>
              <a:rPr kumimoji="0" lang="gu-IN" altLang="gu-I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Stack</a:t>
            </a:r>
            <a:r>
              <a:rPr kumimoji="0" lang="gu-IN" altLang="gu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45337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D7A0-C151-86BF-FA06-459715940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 Idea of MEDIQ</a:t>
            </a:r>
            <a:endParaRPr lang="gu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9DDA4B-05FB-3BA9-E539-584940DF68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743035"/>
            <a:ext cx="901233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gu-IN" altLang="gu-I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MEDIQ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makes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healthcare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more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accessible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and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organized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Patients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can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easily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find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doctors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and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book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appointments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Doctors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can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manage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appointments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and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patient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details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Admin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can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monitor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and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verify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doctors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The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system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reduces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manual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appointment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handling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36906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84933-198A-4159-65C7-B4D099653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Foundation</a:t>
            </a:r>
            <a:endParaRPr lang="gu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E36BAD-7CE1-CB90-63DD-17FC751EA5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743035"/>
            <a:ext cx="903003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gu-IN" altLang="gu-I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MEDIQ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uses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a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modern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full-stack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architecture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Frontend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works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a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Single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Page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Application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Backend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handles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APIs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and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business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logic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MongoDB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stores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system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data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securely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The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system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supports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scalability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and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future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enhancements</a:t>
            </a:r>
            <a:r>
              <a:rPr kumimoji="0" lang="gu-IN" altLang="gu-I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85284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CAF2A-BD1B-7AB7-9F7F-CEC057EE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Features of MEDIQ</a:t>
            </a:r>
            <a:endParaRPr lang="gu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62F215-B644-BEEA-D62E-2CCA0AA20D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7084" y="1529304"/>
            <a:ext cx="9744373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gu-IN" altLang="gu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Online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appointment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booking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Doctor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search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and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listing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Patient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profile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management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Doctor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profile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management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Admin-controlled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doctor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approval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Real-time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chat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support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Appointment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tracking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Secure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data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0" lang="gu-IN" altLang="gu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storage</a:t>
            </a:r>
            <a:r>
              <a:rPr kumimoji="0" lang="gu-IN" altLang="gu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endParaRPr kumimoji="0" lang="gu-IN" altLang="gu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649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632BB-BD68-CF67-66CA-692EC5ED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Organization Profile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E3C3B-895F-BBC0-C668-6DD3FA392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27523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Purushottam Solutions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Purushottam Solutions is an IT service company.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website and mobile app development services.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focuses on user-friendly and scalable digital products.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businesses improve their digital presence.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modern design and development standards.</a:t>
            </a:r>
          </a:p>
          <a:p>
            <a:endParaRPr lang="gu-IN" sz="2800" dirty="0"/>
          </a:p>
        </p:txBody>
      </p:sp>
    </p:spTree>
    <p:extLst>
      <p:ext uri="{BB962C8B-B14F-4D97-AF65-F5344CB8AC3E}">
        <p14:creationId xmlns:p14="http://schemas.microsoft.com/office/powerpoint/2010/main" val="390862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983B7-D68E-5F48-1D69-0E48BF32C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Organization Services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85DC3-512E-B997-4E18-F2C577223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73161"/>
            <a:ext cx="10353762" cy="448351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Provided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design and development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design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business solutions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and secure application development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Ongoing maintenance and support</a:t>
            </a:r>
          </a:p>
          <a:p>
            <a:endParaRPr lang="gu-IN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359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6DFD-611A-31A3-D5A9-368870515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Organization Development Process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E4B0B-C604-8326-2669-566D62A5A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59974"/>
            <a:ext cx="10353762" cy="4336026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Process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gathering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strategy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design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integration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quality assurance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and support</a:t>
            </a:r>
          </a:p>
          <a:p>
            <a:endParaRPr lang="gu-IN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529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5991-08C0-C1B7-55C1-4E2D4B3E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Existing System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A6C3F-B001-7290-4580-6727E47AD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007572"/>
            <a:ext cx="10353762" cy="4039265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Healthcare Platforms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Practo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Apollo 24/7 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Tata 1mg </a:t>
            </a:r>
          </a:p>
          <a:p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MediBuddy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Lybrate</a:t>
            </a:r>
          </a:p>
          <a:p>
            <a:endParaRPr lang="gu-IN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082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DFB9D-E41E-D988-F45E-53E9736A0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Practo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F74F2-48DB-2CF2-4AD7-337CA2CC5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25677"/>
            <a:ext cx="10353762" cy="4422723"/>
          </a:xfrm>
        </p:spPr>
        <p:txBody>
          <a:bodyPr>
            <a:norm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Practo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doctor search and appointment booking.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patients to find verified specialists.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physical visits and video consultation.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Practo Ray for health records, billing, and reminders.</a:t>
            </a:r>
          </a:p>
          <a:p>
            <a:endParaRPr lang="gu-IN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438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A240E-B20C-732D-4A8B-BA433D6A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Tata 1mg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2915E-F0BF-A9FA-D58B-1CA788416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15233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Tata 1mg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as a digital pharmacy.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medicine information and alternatives.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doctor appointment booking.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at-home diagnostic testing.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healthcare transparency.</a:t>
            </a:r>
          </a:p>
          <a:p>
            <a:endParaRPr lang="gu-IN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077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368A8-AF0C-9C11-D63A-5AD6DB78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MediBuddy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FF308-821A-6369-494B-EB12FC9C8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152336"/>
          </a:xfrm>
        </p:spPr>
        <p:txBody>
          <a:bodyPr>
            <a:norm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MediBuddy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digital healthcare platform.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corporate healthcare and personal care.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virtual doctor consultation.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hospital admission and surgical support.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supports dental appointment booking.</a:t>
            </a:r>
          </a:p>
          <a:p>
            <a:endParaRPr lang="gu-IN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164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A63AF-BF4C-0A8D-DB9D-AF5A22845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Lybrate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C051F-1804-85A6-EF80-39143C32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50257"/>
            <a:ext cx="10353762" cy="428507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Lybrate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health feed and doctor advice.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doctors to answer patient questions.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virtual and in-person appointments.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access to many verified doctors.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chatbot-based medical support concept.</a:t>
            </a:r>
          </a:p>
          <a:p>
            <a:endParaRPr lang="gu-IN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890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9324-2A75-0838-DB36-8117799B7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Apollo 24/7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10EFD-B3BD-9EE4-972E-42C007D91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0477"/>
            <a:ext cx="10353762" cy="438518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Apollo 24/7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platform of Apollo Hospitals.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online doctor consultation.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AI-powered symptom checker.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lab test booking and medicine delivery.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quick healthcare services. </a:t>
            </a:r>
          </a:p>
          <a:p>
            <a:endParaRPr lang="gu-IN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687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D8ED4-36DC-E2D3-1BA3-E35FA722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Problems in Existing System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41C6D-DC33-05E5-34E0-8ADAA00AB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24001"/>
            <a:ext cx="10353762" cy="491612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Areas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verification is not always strong.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do not allow doctors to manage patient lists.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collect only basic patient details.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records are scattered across different hospitals.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separate dashboard for each role.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chatbot service.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cannot always control doctor registration.</a:t>
            </a:r>
          </a:p>
          <a:p>
            <a:endParaRPr lang="gu-IN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838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9B2C6-724B-2A7E-7BC1-3AF842AC6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Problems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336F1-11A1-BFB7-B02A-F54326071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33831"/>
            <a:ext cx="10353762" cy="453267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Issues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platforms do not provide night-shift doctor services.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doctors may create trust issues.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doctor categories are available.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patients may not easily find women doctors.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Consultation fees can be high.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complete hospital workflow management.</a:t>
            </a:r>
          </a:p>
          <a:p>
            <a:endParaRPr lang="gu-IN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839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CAC2-98A6-3FCE-5BBF-1889EF46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Need for New System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73D87-8724-27BD-1B20-7D4BA156F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51819"/>
            <a:ext cx="10353762" cy="4596581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MEDIQ is Needed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appointment booking.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verified doctor registration.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complete patient information.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patient records digitally.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separate dashboards.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trust between patient and doctor.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admin approval and control. </a:t>
            </a:r>
          </a:p>
          <a:p>
            <a:endParaRPr lang="gu-IN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703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B664-B233-5EEA-760A-FD547E668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Proposed System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6AE32-F1EE-C4AC-09C1-13ABA63EE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81316"/>
            <a:ext cx="10353762" cy="456708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Healthcare Appointment System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appointment booking platform.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patients, doctors, and administrators.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online registration and login.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patients to book appointments.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doctors to manage schedules.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to manage doctors, patients, and appointments. </a:t>
            </a:r>
          </a:p>
        </p:txBody>
      </p:sp>
    </p:spTree>
    <p:extLst>
      <p:ext uri="{BB962C8B-B14F-4D97-AF65-F5344CB8AC3E}">
        <p14:creationId xmlns:p14="http://schemas.microsoft.com/office/powerpoint/2010/main" val="1299511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B104-978C-E261-F4B8-E685E0E3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Patient Panel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B5A75-2658-4E9A-4933-F37FC9EE5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00981"/>
            <a:ext cx="10353762" cy="4699819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Features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login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personal profile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doctors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appointments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booked appointments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with doctors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appointment status</a:t>
            </a:r>
          </a:p>
          <a:p>
            <a:endParaRPr lang="gu-IN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684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F293-9FDA-AD89-441C-4CD801FBC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Doctor Panel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3358C-A318-F1BD-BC08-E9382DB40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53497"/>
            <a:ext cx="10353762" cy="4483509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Features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login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doctor profile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upcoming appointments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patient list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or manage appointment flow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earnings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with patients</a:t>
            </a:r>
          </a:p>
          <a:p>
            <a:endParaRPr lang="gu-IN" sz="2400" dirty="0"/>
          </a:p>
        </p:txBody>
      </p:sp>
    </p:spTree>
    <p:extLst>
      <p:ext uri="{BB962C8B-B14F-4D97-AF65-F5344CB8AC3E}">
        <p14:creationId xmlns:p14="http://schemas.microsoft.com/office/powerpoint/2010/main" val="4267512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81BDE-1003-EB9E-896B-FD229FF1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Admin Panel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47585-A465-5558-34B7-FAD2156AF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91148"/>
            <a:ext cx="10353762" cy="4847304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Features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to admin dashboard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patient records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doctor records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or reject doctor registration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appointment records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 inquiries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complete system activity</a:t>
            </a:r>
          </a:p>
          <a:p>
            <a:endParaRPr lang="gu-IN" dirty="0"/>
          </a:p>
        </p:txBody>
      </p:sp>
    </p:spTree>
    <p:extLst>
      <p:ext uri="{BB962C8B-B14F-4D97-AF65-F5344CB8AC3E}">
        <p14:creationId xmlns:p14="http://schemas.microsoft.com/office/powerpoint/2010/main" val="844931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05CBF-D00D-731C-82F2-35DA60F6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MEDIQ is Different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58896-CB46-678D-AE13-0DFAAD612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22323"/>
            <a:ext cx="10353762" cy="4626077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Points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verification before doctor approval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dashboards for each user role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management from one platform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trust and authenticity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workflow support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real-world usability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professional architecture</a:t>
            </a:r>
          </a:p>
          <a:p>
            <a:endParaRPr lang="gu-IN" dirty="0"/>
          </a:p>
        </p:txBody>
      </p:sp>
    </p:spTree>
    <p:extLst>
      <p:ext uri="{BB962C8B-B14F-4D97-AF65-F5344CB8AC3E}">
        <p14:creationId xmlns:p14="http://schemas.microsoft.com/office/powerpoint/2010/main" val="632652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99287-3BF5-6597-76D1-C07BE789D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Flow Diagram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5E77B-A2B7-A0BC-8722-5967A1B8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84670"/>
            <a:ext cx="10353762" cy="436373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role.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or registration is performed.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books appointment.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manages appointment and patient data.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controls doctors, patients, appointments, and inquiries.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database.</a:t>
            </a:r>
          </a:p>
          <a:p>
            <a:endParaRPr lang="gu-IN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838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21896-840B-017E-AE09-840BD3919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Flow Diagram</a:t>
            </a:r>
            <a:endParaRPr lang="gu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6C9C89-B9DD-ED0A-C3DA-5148656D3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5910" y="1789471"/>
            <a:ext cx="10579509" cy="465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45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04BA4-AE52-A8DA-6AD7-B99E4EE4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ADMIN USECASE</a:t>
            </a:r>
            <a:endParaRPr lang="gu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232118B-4F53-0CBF-934B-6889D8BE2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14168" y="1809135"/>
            <a:ext cx="8878529" cy="433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49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42D8-8026-545D-BC3B-A496DF5B0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PATIENT USECASE</a:t>
            </a:r>
            <a:endParaRPr lang="gu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0790BE-EFCA-4768-2D3D-B234759D5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1587" y="2095499"/>
            <a:ext cx="8416413" cy="426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32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4C8D3-F52D-EE7E-419B-9F9E9362D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DOCTOR USECASE</a:t>
            </a:r>
            <a:endParaRPr lang="gu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F83F44-4388-1A20-DB80-863B9D99E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49910" y="2095499"/>
            <a:ext cx="6931742" cy="397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7906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F53F5-8A0F-5E99-2836-CAAF5F7C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ACTIVITY</a:t>
            </a:r>
            <a:endParaRPr lang="gu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D2A646-FEAE-3BBD-38A1-F05E53E83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3076" y="2095500"/>
            <a:ext cx="8636322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066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BEAE9-4292-4796-B1EB-15F3E1336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DOCTOR ACTIVITY</a:t>
            </a:r>
            <a:endParaRPr lang="gu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D99214-56FB-BA35-06E0-23871DB5E5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44001" y="2095499"/>
            <a:ext cx="8094473" cy="403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102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9372-0D89-B0BD-89FB-5161429B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ACTIVITY</a:t>
            </a:r>
            <a:endParaRPr lang="gu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505051-A8B3-9C03-B031-AEB43BBE0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20414" y="2095499"/>
            <a:ext cx="7767484" cy="397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64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C964-01FF-E521-D441-0A273AA1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SEQUENCE</a:t>
            </a:r>
            <a:endParaRPr lang="gu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3AE209-AFAC-75B2-D93B-FB48311E8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0748" y="2095500"/>
            <a:ext cx="7678994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60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AB827-6B27-348E-34AF-D3C1DFAD3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DOCTOR SEQUENCE</a:t>
            </a:r>
            <a:endParaRPr lang="gu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950812-827D-FA1E-149F-9A5CDC695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9639" y="2095500"/>
            <a:ext cx="8711380" cy="422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922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2F0B-0E9D-F3A6-DBC4-3C4322D2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SEQUENCE</a:t>
            </a:r>
            <a:endParaRPr lang="gu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BE9258-FEAC-3202-2929-307FAF93EA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90916" y="2095499"/>
            <a:ext cx="8622890" cy="448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1200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BA81-9FB6-7FAC-D04B-D45B4285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endParaRPr lang="gu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028502-6E08-9EE8-5E41-2B8DD0028C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91147" y="2095500"/>
            <a:ext cx="8495071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3696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1FD3A-FBF6-7D51-D9B4-8E6EB457C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Data dictionary </a:t>
            </a:r>
            <a:endParaRPr lang="gu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82359A-E0CC-6728-9B73-4A7EB55F750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28657" y="2970560"/>
          <a:ext cx="5725160" cy="23658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8175">
                  <a:extLst>
                    <a:ext uri="{9D8B030D-6E8A-4147-A177-3AD203B41FA5}">
                      <a16:colId xmlns:a16="http://schemas.microsoft.com/office/drawing/2014/main" val="2331022484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976972347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3350263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Field Name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Data Type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Description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458132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Name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Full name of administrator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631228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Admin 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Unique email for login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415232969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Password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String(Hashed)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Bcrypt-Hashed password for login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823776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Role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Access level such as </a:t>
                      </a:r>
                      <a:r>
                        <a:rPr lang="en-US" sz="1200" kern="100" dirty="0" err="1">
                          <a:effectLst/>
                          <a:highlight>
                            <a:srgbClr val="D3D3D3"/>
                          </a:highlight>
                        </a:rPr>
                        <a:t>SuperAdmin</a:t>
                      </a:r>
                      <a:r>
                        <a:rPr lang="en-US" sz="1200" kern="100" dirty="0">
                          <a:effectLst/>
                        </a:rPr>
                        <a:t> or </a:t>
                      </a:r>
                      <a:r>
                        <a:rPr lang="en-US" sz="1200" kern="100" dirty="0" err="1">
                          <a:effectLst/>
                          <a:highlight>
                            <a:srgbClr val="D3D3D3"/>
                          </a:highlight>
                        </a:rPr>
                        <a:t>SubAdmin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4095796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575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67A67-B26F-0F66-546A-840F8AA70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Medicine Data Dictionary </a:t>
            </a:r>
            <a:endParaRPr lang="gu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38100B-8B7D-1130-B583-B429F80BAB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770725"/>
          <a:ext cx="10353675" cy="23448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1393868724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1201098892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856736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Field Name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Data Type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Description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585477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symptom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The health condition used for matching (e.g., "Fever").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746650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adultMed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Recommended medication for adults.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216752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childMed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Recommended medication for children.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244431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remedy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Suggested home-based natural treatments.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163706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diet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Suggested food and nutrition guidelines.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063235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daysLimit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Number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Maximum number of days to follow the remedy.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292363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185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5E97A-E153-42B1-D212-2F05A1E1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Doctor Data Dictionary </a:t>
            </a:r>
            <a:endParaRPr lang="gu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1C22B9-2D7E-C47B-243C-B1960C9D1C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9427118"/>
              </p:ext>
            </p:extLst>
          </p:nvPr>
        </p:nvGraphicFramePr>
        <p:xfrm>
          <a:off x="1229032" y="2095498"/>
          <a:ext cx="9802761" cy="36957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67587">
                  <a:extLst>
                    <a:ext uri="{9D8B030D-6E8A-4147-A177-3AD203B41FA5}">
                      <a16:colId xmlns:a16="http://schemas.microsoft.com/office/drawing/2014/main" val="19224179"/>
                    </a:ext>
                  </a:extLst>
                </a:gridCol>
                <a:gridCol w="3267587">
                  <a:extLst>
                    <a:ext uri="{9D8B030D-6E8A-4147-A177-3AD203B41FA5}">
                      <a16:colId xmlns:a16="http://schemas.microsoft.com/office/drawing/2014/main" val="1402953918"/>
                    </a:ext>
                  </a:extLst>
                </a:gridCol>
                <a:gridCol w="3267587">
                  <a:extLst>
                    <a:ext uri="{9D8B030D-6E8A-4147-A177-3AD203B41FA5}">
                      <a16:colId xmlns:a16="http://schemas.microsoft.com/office/drawing/2014/main" val="3072519074"/>
                    </a:ext>
                  </a:extLst>
                </a:gridCol>
              </a:tblGrid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Field Name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Data Type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Description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2214082108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fullName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The doctor's full legal name.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1883120418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email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Unique, normalized email address for the doctor.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225365037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password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 (Hashed)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Securely hashed password for portal access.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572943172"/>
                  </a:ext>
                </a:extLst>
              </a:tr>
              <a:tr h="2670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visiblePassword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The plain-text version of the password stored for repair/sync purposes.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3584681890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specialization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The doctor's area of medical expertise.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1645927921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qualification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Academic degrees held by the doctor.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560645483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experienceYears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Number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Total years of professional practice.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585604876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phone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Primary contact number.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2520202086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address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Physical location of the doctor's practice.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1978491004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dob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Date/String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Date of birth of the healthcare provider.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1504539638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regNumber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Official medical registration number.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682839453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regCouncil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The council where the doctor is registered.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1866054092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gender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Gender of the doctor.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4253201896"/>
                  </a:ext>
                </a:extLst>
              </a:tr>
              <a:tr h="2670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currentWorkplace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The hospital or clinic where the doctor currently works.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2989127064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shift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Assigned work shift (e.g., "Day").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1504695742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image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 (Path)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Server path to the profile image file.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627323700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degreeCertificate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 (Path)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Server path to the uploaded degree document.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2431810476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identityProof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 (Path)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Server path to the uploaded ID proof.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3313964734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registrationCertificate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 (Path)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Server path to the registration document.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2710305939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cvFile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 (Path)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Server path to the uploaded curriculum vitae.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2340644884"/>
                  </a:ext>
                </a:extLst>
              </a:tr>
              <a:tr h="15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status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>
                          <a:effectLst/>
                        </a:rPr>
                        <a:t>String</a:t>
                      </a:r>
                      <a:endParaRPr lang="en-US" sz="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 dirty="0">
                          <a:effectLst/>
                        </a:rPr>
                        <a:t>Account status, such as "Pending" or "Active".</a:t>
                      </a:r>
                      <a:endParaRPr lang="en-US" sz="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27975" marR="27975" marT="27975" marB="27975" anchor="ctr"/>
                </a:tc>
                <a:extLst>
                  <a:ext uri="{0D108BD9-81ED-4DB2-BD59-A6C34878D82A}">
                    <a16:rowId xmlns:a16="http://schemas.microsoft.com/office/drawing/2014/main" val="411747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7274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72E8B-2E8F-C71F-01C8-0552FEA79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Patient Data Dictionary </a:t>
            </a:r>
            <a:endParaRPr lang="gu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F58D51E-291D-773C-BA17-DDAF2FC82A5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875881"/>
          <a:ext cx="10353675" cy="25551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1047661512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425734881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6522876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Field Name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Data Type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Description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859855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name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The patient's full name.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658910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number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Primary contact phone number.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397891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gender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The patient's gender.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93109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profilePic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 (Path)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Server path or URL to the patient's avatar.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399305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createdAt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Date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Timestamp of when the patient record was created.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998914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updatedAt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Date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Timestamp of the last update to the patient record.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791605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8173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EB619-B4FD-AF3F-DE8F-5769060F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Appointment Data Dictionary</a:t>
            </a:r>
            <a:endParaRPr lang="gu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CF9DD1-4D2C-409D-BAD4-3400184EBF7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10535" y="2095497"/>
          <a:ext cx="8961405" cy="36957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87135">
                  <a:extLst>
                    <a:ext uri="{9D8B030D-6E8A-4147-A177-3AD203B41FA5}">
                      <a16:colId xmlns:a16="http://schemas.microsoft.com/office/drawing/2014/main" val="200833160"/>
                    </a:ext>
                  </a:extLst>
                </a:gridCol>
                <a:gridCol w="2987135">
                  <a:extLst>
                    <a:ext uri="{9D8B030D-6E8A-4147-A177-3AD203B41FA5}">
                      <a16:colId xmlns:a16="http://schemas.microsoft.com/office/drawing/2014/main" val="2422919594"/>
                    </a:ext>
                  </a:extLst>
                </a:gridCol>
                <a:gridCol w="2987135">
                  <a:extLst>
                    <a:ext uri="{9D8B030D-6E8A-4147-A177-3AD203B41FA5}">
                      <a16:colId xmlns:a16="http://schemas.microsoft.com/office/drawing/2014/main" val="2758728974"/>
                    </a:ext>
                  </a:extLst>
                </a:gridCol>
              </a:tblGrid>
              <a:tr h="263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Field Name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Data Type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Description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extLst>
                  <a:ext uri="{0D108BD9-81ED-4DB2-BD59-A6C34878D82A}">
                    <a16:rowId xmlns:a16="http://schemas.microsoft.com/office/drawing/2014/main" val="1916142150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patientId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ObjectId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Reference to the unique ID of the patient.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extLst>
                  <a:ext uri="{0D108BD9-81ED-4DB2-BD59-A6C34878D82A}">
                    <a16:rowId xmlns:a16="http://schemas.microsoft.com/office/drawing/2014/main" val="486284520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doctorId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ObjectId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Reference to the unique ID of the doctor.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extLst>
                  <a:ext uri="{0D108BD9-81ED-4DB2-BD59-A6C34878D82A}">
                    <a16:rowId xmlns:a16="http://schemas.microsoft.com/office/drawing/2014/main" val="1477553054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patientName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String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Name of the patient at the time of booking.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extLst>
                  <a:ext uri="{0D108BD9-81ED-4DB2-BD59-A6C34878D82A}">
                    <a16:rowId xmlns:a16="http://schemas.microsoft.com/office/drawing/2014/main" val="2892020319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patientEmail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String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Contact email for appointment notifications.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extLst>
                  <a:ext uri="{0D108BD9-81ED-4DB2-BD59-A6C34878D82A}">
                    <a16:rowId xmlns:a16="http://schemas.microsoft.com/office/drawing/2014/main" val="1045434964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patientPhone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String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Contact number for the specific appointment.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extLst>
                  <a:ext uri="{0D108BD9-81ED-4DB2-BD59-A6C34878D82A}">
                    <a16:rowId xmlns:a16="http://schemas.microsoft.com/office/drawing/2014/main" val="1836154991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appointmentDate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Date/String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The scheduled date for the medical visit.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extLst>
                  <a:ext uri="{0D108BD9-81ED-4DB2-BD59-A6C34878D82A}">
                    <a16:rowId xmlns:a16="http://schemas.microsoft.com/office/drawing/2014/main" val="1129804428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timeSlot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String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The specific time assigned for the consultation.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extLst>
                  <a:ext uri="{0D108BD9-81ED-4DB2-BD59-A6C34878D82A}">
                    <a16:rowId xmlns:a16="http://schemas.microsoft.com/office/drawing/2014/main" val="1132525105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symptoms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String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Description of the patient's health issues.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extLst>
                  <a:ext uri="{0D108BD9-81ED-4DB2-BD59-A6C34878D82A}">
                    <a16:rowId xmlns:a16="http://schemas.microsoft.com/office/drawing/2014/main" val="259757919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duration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String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Estimated length of the appointment.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extLst>
                  <a:ext uri="{0D108BD9-81ED-4DB2-BD59-A6C34878D82A}">
                    <a16:rowId xmlns:a16="http://schemas.microsoft.com/office/drawing/2014/main" val="2343319181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checkupType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String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Category of visit (e.g., "General").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extLst>
                  <a:ext uri="{0D108BD9-81ED-4DB2-BD59-A6C34878D82A}">
                    <a16:rowId xmlns:a16="http://schemas.microsoft.com/office/drawing/2014/main" val="810486585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consultationFee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Number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The cost of the visit, defaults to 500.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extLst>
                  <a:ext uri="{0D108BD9-81ED-4DB2-BD59-A6C34878D82A}">
                    <a16:rowId xmlns:a16="http://schemas.microsoft.com/office/drawing/2014/main" val="3101535459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status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String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Current state of the booking (e.g., "Approved").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extLst>
                  <a:ext uri="{0D108BD9-81ED-4DB2-BD59-A6C34878D82A}">
                    <a16:rowId xmlns:a16="http://schemas.microsoft.com/office/drawing/2014/main" val="186123290"/>
                  </a:ext>
                </a:extLst>
              </a:tr>
              <a:tr h="263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doctorNote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String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Medical notes or remarks added by the doctor.</a:t>
                      </a:r>
                      <a:endParaRPr lang="en-US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46717" marR="46717" marT="46717" marB="46717" anchor="ctr"/>
                </a:tc>
                <a:extLst>
                  <a:ext uri="{0D108BD9-81ED-4DB2-BD59-A6C34878D82A}">
                    <a16:rowId xmlns:a16="http://schemas.microsoft.com/office/drawing/2014/main" val="191137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2779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56217-26D2-48FB-730C-AE58C3E7E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Chat Data Dictionary </a:t>
            </a:r>
            <a:endParaRPr lang="gu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80A264-D41B-8916-F301-ED623E7FF63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513074"/>
          <a:ext cx="10353675" cy="2860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599856634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4179542387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643809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Field Name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Data Type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Description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674150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senderId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ObjectId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Unique ID of the user sending the message.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913486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senderModel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The collection type of the sender ("Patient" or "Doctor").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09433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senderName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The name of the user who sent the message.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051417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receiverId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ObjectId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Unique ID of the message recipient.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103125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receiverModel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The collection type of the receiver ("Patient" or "Doctor").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95449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receiverName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The name of the user receiving the message.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871821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message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The actual text content of the conversation.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402926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0140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B587-2908-4181-1D42-3E85EB51E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Inquiry Data Dictionary </a:t>
            </a:r>
            <a:endParaRPr lang="gu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376A53-A988-FBCA-06FD-F541F74CBB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3333368"/>
          <a:ext cx="10353675" cy="12197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2876197095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140901580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0694099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Field Name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Data Type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Description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822420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name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Full name of the person submitting the inquiry.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738265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email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Email address for responding to the inquiry.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61694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message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The specific question or feedback provided.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531846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0243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CC555-B35B-EEBD-65F9-09A4344FA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</a:t>
            </a:r>
            <a:endParaRPr lang="gu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5E8717-726F-263D-8B83-1CB6F14F73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6171" y="2095500"/>
            <a:ext cx="6570133" cy="36957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29368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DDDD0-F0E9-C574-58F3-FAAC622E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</a:t>
            </a:r>
            <a:endParaRPr lang="gu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8AE1DB-EF1B-7BC2-E54A-D20472F09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6171" y="2095500"/>
            <a:ext cx="6570133" cy="36957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16292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2760-FC86-45ED-DC7E-F62E39F52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</a:t>
            </a:r>
            <a:endParaRPr lang="gu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91CED9-E79C-248B-7780-619C1905C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6171" y="2095500"/>
            <a:ext cx="6570133" cy="36957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925656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D6220-FAC3-505C-8CD1-B614C8E2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</a:t>
            </a:r>
            <a:endParaRPr lang="gu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C3463E-8F7E-27AD-E731-61C44E6D2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6171" y="2095500"/>
            <a:ext cx="6570133" cy="36957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18480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DCDE-1DEF-C8D9-EE27-4F0FA8C6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Test case </a:t>
            </a:r>
            <a:endParaRPr lang="gu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89CE4C-F372-DD77-899F-4C30C8D577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1" y="2760248"/>
          <a:ext cx="10353672" cy="23662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5612">
                  <a:extLst>
                    <a:ext uri="{9D8B030D-6E8A-4147-A177-3AD203B41FA5}">
                      <a16:colId xmlns:a16="http://schemas.microsoft.com/office/drawing/2014/main" val="787471182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1598403115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1670686511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3884058924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2124360048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3219841997"/>
                    </a:ext>
                  </a:extLst>
                </a:gridCol>
              </a:tblGrid>
              <a:tr h="30499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T_ID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PAGE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DATA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EXPECTED RESULT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ACTUAL RESULT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STATUS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029515434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1.1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Patient Login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Valid Credentials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Redirect to Patient Dashboard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Home Page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PASSED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434674151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1.2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Patient Login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Wrong Password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Error: "Invalid credentials"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Invalid credentials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FAILED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729401639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1.3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Patient Reg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All Valid Fields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Account created successfully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Registered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PASSED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792272786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1.4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Patient Reg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Existing Email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Error: "User already exists"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User already exists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FAILED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162669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5059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A56C8-4040-8353-567B-A5D9ED84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DOCTOR REGISTRATION Test case</a:t>
            </a:r>
            <a:endParaRPr lang="gu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AD7435-A8C6-F5D9-A0BF-232A71A850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1" y="2865404"/>
          <a:ext cx="10353672" cy="21558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5612">
                  <a:extLst>
                    <a:ext uri="{9D8B030D-6E8A-4147-A177-3AD203B41FA5}">
                      <a16:colId xmlns:a16="http://schemas.microsoft.com/office/drawing/2014/main" val="2584515575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3040049962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2812152167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1551839113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37171635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1694666410"/>
                    </a:ext>
                  </a:extLst>
                </a:gridCol>
              </a:tblGrid>
              <a:tr h="30499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T_ID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PAGE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DATA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EXPECTED RESULT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ACTUAL RESULT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STATUS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005877066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2.1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Doctor Reg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All Docs Uploaded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Success: "Waiting for Admin Approval"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Waiting for Approval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PASSED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568798596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2.2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Doctor Reg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Missing ID Proof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Error: "Documents Missing"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Documents Missing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FAILED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152846861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2.3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Doctor Reg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Invalid Email Format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Error: "Invalid Email"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Invalid Email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FAILED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794904593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2.4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Doctor Reg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Duplicate Email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Error: "Doctor already exists"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Doctor already exists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FAILED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602069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4967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C2574-0DF6-8179-9325-9CDD9E464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DOCTOR LOGIN </a:t>
            </a:r>
            <a:r>
              <a:rPr lang="en-US" dirty="0" err="1"/>
              <a:t>Tese</a:t>
            </a:r>
            <a:r>
              <a:rPr lang="en-US" dirty="0"/>
              <a:t> case</a:t>
            </a:r>
            <a:endParaRPr lang="gu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266E2B-1B7D-6942-B8F8-8AFBB49670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1" y="2865404"/>
          <a:ext cx="10353672" cy="23661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5612">
                  <a:extLst>
                    <a:ext uri="{9D8B030D-6E8A-4147-A177-3AD203B41FA5}">
                      <a16:colId xmlns:a16="http://schemas.microsoft.com/office/drawing/2014/main" val="3180494643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3300417147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613055813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3526209062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158380808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4126501929"/>
                    </a:ext>
                  </a:extLst>
                </a:gridCol>
              </a:tblGrid>
              <a:tr h="30499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T_ID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PAGE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DATA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EXPECTED RESULT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ACTUAL RESULT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STATUS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4023771256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3.1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Doctor Login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Approved Credentials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Success: "Login Successful"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Login Successful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PASSED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4008547926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3.2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Doctor Login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Unapproved Account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Error: "Doctor not approved yet"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Doctor not approved yet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FAILED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012329176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3.3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Doctor Login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Wrong Password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Error: "Invalid credentials"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Invalid credentials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FAILED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288614321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3.4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Doctor Login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Non-existent Email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Error: "Doctor not found"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Doctor not found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FAILED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687179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6292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0AD46-028C-96B3-6F47-A34ABE1F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LOGIN Test case</a:t>
            </a:r>
            <a:endParaRPr lang="gu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64483D-85EA-453F-E341-E6851006DF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1" y="2970560"/>
          <a:ext cx="10353672" cy="23660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5612">
                  <a:extLst>
                    <a:ext uri="{9D8B030D-6E8A-4147-A177-3AD203B41FA5}">
                      <a16:colId xmlns:a16="http://schemas.microsoft.com/office/drawing/2014/main" val="869937831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803464983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292752975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1408468077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875635702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2999659445"/>
                    </a:ext>
                  </a:extLst>
                </a:gridCol>
              </a:tblGrid>
              <a:tr h="30499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T_ID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PAGE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DATA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EXPECTED RESULT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ACTUAL RESULT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STATUS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272190517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4.1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Admin Login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admin@mediq / admin123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Success: "Admin Login Successful"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Login Successful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PASSED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50213689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4.2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Admin Login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Incorrect adminId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Error: "Invalid Admin ID"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Invalid Admin 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FAILED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345511250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4.3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Admin Login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Incorrect Password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Error: "Invalid Password"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Invalid Password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FAILED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170982327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4.4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Admin Login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Empty Fields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Error: "Please fill out details"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Please fill out details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FAILED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981571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3322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5FD8B-FC96-7CB9-E1E6-133FD30F5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 APPOINTMENT Test case</a:t>
            </a:r>
            <a:endParaRPr lang="gu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F304A5-F277-9137-7F30-366D05C33E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1" y="3017900"/>
          <a:ext cx="10353672" cy="18509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5612">
                  <a:extLst>
                    <a:ext uri="{9D8B030D-6E8A-4147-A177-3AD203B41FA5}">
                      <a16:colId xmlns:a16="http://schemas.microsoft.com/office/drawing/2014/main" val="3561507387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2109741534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2046913678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1510086234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3135397237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2186027872"/>
                    </a:ext>
                  </a:extLst>
                </a:gridCol>
              </a:tblGrid>
              <a:tr h="30499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T_ID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PAGE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DATA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EXPECTED RESULT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ACTUAL RESULT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STATUS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662938322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5.1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Book Appt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All Fields Provided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Success: "Appointment booked"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Booked Successfully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PASSED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290520144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5.2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Book Appt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Missing Time Slot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Error: "Missing required fields"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Missing fields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FAILED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217400155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5.3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Update Stat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Status = "Approved"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Appointment reflects in Earnings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Status Updated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PASSED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229537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21155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9B23-AEF5-96FE-FBF5-39FBCAD8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effectLst/>
              </a:rPr>
              <a:t>Future Enhancement :-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71A35-8FEA-96BE-3167-B74103230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Life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Insaurance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services.</a:t>
            </a: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Advance chatbot .</a:t>
            </a: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Video-Call Services on website.</a:t>
            </a: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Prescription Management services.</a:t>
            </a: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Buy medicine on website get discount on every buy.</a:t>
            </a: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Ambulance services.</a:t>
            </a: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Buy &amp; Sell all medical equipment service.</a:t>
            </a: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services of notification on email &amp; SMS.</a:t>
            </a:r>
          </a:p>
          <a:p>
            <a:endParaRPr lang="gu-I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6107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BA8DA-5683-C2D1-FA1F-603856846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effectLst/>
              </a:rPr>
              <a:t>References :-</a:t>
            </a:r>
            <a:endParaRPr lang="gu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C825B-FB60-8292-F7BA-DB2E0AE05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152336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 Official Documentation. Available at: </a:t>
            </a:r>
            <a:r>
              <a:rPr lang="en-US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https://react.dev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Express.js Official Documentation. Available at: </a:t>
            </a:r>
            <a:r>
              <a:rPr lang="en-US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https://expressjs.com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Official Documentation. Available at: </a:t>
            </a:r>
            <a:r>
              <a:rPr lang="en-US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https://nodejs.org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 Official Documentation. Available at: </a:t>
            </a:r>
            <a:r>
              <a:rPr lang="en-US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https://www.mongodb.com/docs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W3Schools. Available at: </a:t>
            </a:r>
            <a:r>
              <a:rPr lang="en-US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https://www.w3schools.com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US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https://www.geeksforgeeks.org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Stack Overflow. Available at: </a:t>
            </a:r>
            <a:r>
              <a:rPr lang="en-US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https://stackoverflow.com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ChatGPT. Available at: </a:t>
            </a:r>
            <a:r>
              <a:rPr lang="en-US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https://chatgpt.com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Gemini. Available at: </a:t>
            </a:r>
            <a:r>
              <a:rPr lang="en-US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https://gemini.google.com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gu-I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8169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9F5773-FC78-FB9A-EEA2-F6C7D0DD833A}"/>
              </a:ext>
            </a:extLst>
          </p:cNvPr>
          <p:cNvSpPr/>
          <p:nvPr/>
        </p:nvSpPr>
        <p:spPr>
          <a:xfrm>
            <a:off x="1248697" y="2328238"/>
            <a:ext cx="10323871" cy="18620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727727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75</TotalTime>
  <Words>2052</Words>
  <Application>Microsoft Office PowerPoint</Application>
  <PresentationFormat>Widescreen</PresentationFormat>
  <Paragraphs>592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Bookman Old Style</vt:lpstr>
      <vt:lpstr>Calibri</vt:lpstr>
      <vt:lpstr>Rockwell</vt:lpstr>
      <vt:lpstr>Times New Roman</vt:lpstr>
      <vt:lpstr>Damask</vt:lpstr>
      <vt:lpstr>Mediq healthcare appointment system</vt:lpstr>
      <vt:lpstr>Introduction</vt:lpstr>
      <vt:lpstr>Main Idea of MEDIQ</vt:lpstr>
      <vt:lpstr>Technical Foundation</vt:lpstr>
      <vt:lpstr>Key Features of MEDIQ</vt:lpstr>
      <vt:lpstr>Organization Profile</vt:lpstr>
      <vt:lpstr>Organization Services</vt:lpstr>
      <vt:lpstr>Organization Development Process</vt:lpstr>
      <vt:lpstr>Existing System</vt:lpstr>
      <vt:lpstr>Practo</vt:lpstr>
      <vt:lpstr>Tata 1mg</vt:lpstr>
      <vt:lpstr>MediBuddy</vt:lpstr>
      <vt:lpstr>Lybrate</vt:lpstr>
      <vt:lpstr>Apollo 24/7</vt:lpstr>
      <vt:lpstr>Problems in Existing System</vt:lpstr>
      <vt:lpstr>More Problems</vt:lpstr>
      <vt:lpstr>Need for New System</vt:lpstr>
      <vt:lpstr>Proposed System</vt:lpstr>
      <vt:lpstr>Patient Panel</vt:lpstr>
      <vt:lpstr>Doctor Panel</vt:lpstr>
      <vt:lpstr>Admin Panel</vt:lpstr>
      <vt:lpstr>How MEDIQ is Different</vt:lpstr>
      <vt:lpstr>System Flow Diagram</vt:lpstr>
      <vt:lpstr>System Flow Diagram</vt:lpstr>
      <vt:lpstr>ADMIN USECASE</vt:lpstr>
      <vt:lpstr>PATIENT USECASE</vt:lpstr>
      <vt:lpstr>DOCTOR USECASE</vt:lpstr>
      <vt:lpstr>ADMIN ACTIVITY</vt:lpstr>
      <vt:lpstr>DOCTOR ACTIVITY</vt:lpstr>
      <vt:lpstr>PATIENT ACTIVITY</vt:lpstr>
      <vt:lpstr>ADMIN SEQUENCE</vt:lpstr>
      <vt:lpstr>DOCTOR SEQUENCE</vt:lpstr>
      <vt:lpstr>PATIENT SEQUENCE</vt:lpstr>
      <vt:lpstr>CLASS </vt:lpstr>
      <vt:lpstr>ADMIN Data dictionary </vt:lpstr>
      <vt:lpstr>Medicine Data Dictionary </vt:lpstr>
      <vt:lpstr>Doctor Data Dictionary </vt:lpstr>
      <vt:lpstr>Patient Data Dictionary </vt:lpstr>
      <vt:lpstr>Appointment Data Dictionary</vt:lpstr>
      <vt:lpstr>Chat Data Dictionary </vt:lpstr>
      <vt:lpstr>Inquiry Data Dictionary </vt:lpstr>
      <vt:lpstr>UI</vt:lpstr>
      <vt:lpstr>UI</vt:lpstr>
      <vt:lpstr>UI</vt:lpstr>
      <vt:lpstr>UI</vt:lpstr>
      <vt:lpstr>PATIENT Test case </vt:lpstr>
      <vt:lpstr>DOCTOR REGISTRATION Test case</vt:lpstr>
      <vt:lpstr>DOCTOR LOGIN Tese case</vt:lpstr>
      <vt:lpstr>ADMIN LOGIN Test case</vt:lpstr>
      <vt:lpstr>BOOK APPOINTMENT Test case</vt:lpstr>
      <vt:lpstr>Future Enhancement :-</vt:lpstr>
      <vt:lpstr>References :-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NAGARIYA</dc:creator>
  <cp:lastModifiedBy>VIVEK NAGARIYA</cp:lastModifiedBy>
  <cp:revision>6</cp:revision>
  <dcterms:created xsi:type="dcterms:W3CDTF">2026-05-01T15:40:55Z</dcterms:created>
  <dcterms:modified xsi:type="dcterms:W3CDTF">2026-05-02T02:45:25Z</dcterms:modified>
</cp:coreProperties>
</file>